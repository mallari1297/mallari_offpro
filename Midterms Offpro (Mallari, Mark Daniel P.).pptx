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D351AE-4CD2-4807-B791-970BAB330AAE}" type="datetimeFigureOut">
              <a:rPr lang="en-PH" smtClean="0"/>
              <a:t>24/05/2023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371108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351AE-4CD2-4807-B791-970BAB330AAE}" type="datetimeFigureOut">
              <a:rPr lang="en-PH" smtClean="0"/>
              <a:t>24/05/2023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2491343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351AE-4CD2-4807-B791-970BAB330AAE}" type="datetimeFigureOut">
              <a:rPr lang="en-PH" smtClean="0"/>
              <a:t>24/05/2023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621131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351AE-4CD2-4807-B791-970BAB330AAE}" type="datetimeFigureOut">
              <a:rPr lang="en-PH" smtClean="0"/>
              <a:t>24/05/2023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757042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D351AE-4CD2-4807-B791-970BAB330AAE}" type="datetimeFigureOut">
              <a:rPr lang="en-PH" smtClean="0"/>
              <a:t>24/05/2023</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201006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D351AE-4CD2-4807-B791-970BAB330AAE}" type="datetimeFigureOut">
              <a:rPr lang="en-PH" smtClean="0"/>
              <a:t>24/05/2023</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228988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351AE-4CD2-4807-B791-970BAB330AAE}" type="datetimeFigureOut">
              <a:rPr lang="en-PH" smtClean="0"/>
              <a:t>24/05/2023</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339866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D351AE-4CD2-4807-B791-970BAB330AAE}" type="datetimeFigureOut">
              <a:rPr lang="en-PH" smtClean="0"/>
              <a:t>24/05/2023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376956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D351AE-4CD2-4807-B791-970BAB330AAE}" type="datetimeFigureOut">
              <a:rPr lang="en-PH" smtClean="0"/>
              <a:t>24/05/2023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426583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351AE-4CD2-4807-B791-970BAB330AAE}" type="datetimeFigureOut">
              <a:rPr lang="en-PH" smtClean="0"/>
              <a:t>24/05/2023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167375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351AE-4CD2-4807-B791-970BAB330AAE}" type="datetimeFigureOut">
              <a:rPr lang="en-PH" smtClean="0"/>
              <a:t>24/05/2023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D655C52A-D3F8-4B10-AC52-DC3A8ECEB04A}" type="slidenum">
              <a:rPr lang="en-PH" smtClean="0"/>
              <a:t>‹#›</a:t>
            </a:fld>
            <a:endParaRPr lang="en-PH"/>
          </a:p>
        </p:txBody>
      </p:sp>
    </p:spTree>
    <p:extLst>
      <p:ext uri="{BB962C8B-B14F-4D97-AF65-F5344CB8AC3E}">
        <p14:creationId xmlns:p14="http://schemas.microsoft.com/office/powerpoint/2010/main" val="1825417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351AE-4CD2-4807-B791-970BAB330AAE}" type="datetimeFigureOut">
              <a:rPr lang="en-PH" smtClean="0"/>
              <a:t>24/05/2023</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5C52A-D3F8-4B10-AC52-DC3A8ECEB04A}" type="slidenum">
              <a:rPr lang="en-PH" smtClean="0"/>
              <a:t>‹#›</a:t>
            </a:fld>
            <a:endParaRPr lang="en-PH"/>
          </a:p>
        </p:txBody>
      </p:sp>
    </p:spTree>
    <p:extLst>
      <p:ext uri="{BB962C8B-B14F-4D97-AF65-F5344CB8AC3E}">
        <p14:creationId xmlns:p14="http://schemas.microsoft.com/office/powerpoint/2010/main" val="1243674204"/>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98C0DCC-C44D-7C4F-E2F7-E24D28A0B5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13186"/>
            <a:ext cx="9144000" cy="5077608"/>
          </a:xfrm>
          <a:prstGeom prst="rect">
            <a:avLst/>
          </a:prstGeom>
        </p:spPr>
      </p:pic>
      <p:sp>
        <p:nvSpPr>
          <p:cNvPr id="2" name="Title 1">
            <a:extLst>
              <a:ext uri="{FF2B5EF4-FFF2-40B4-BE49-F238E27FC236}">
                <a16:creationId xmlns:a16="http://schemas.microsoft.com/office/drawing/2014/main" id="{EC1D3B36-B1E8-813F-1954-23163A669932}"/>
              </a:ext>
            </a:extLst>
          </p:cNvPr>
          <p:cNvSpPr>
            <a:spLocks noGrp="1"/>
          </p:cNvSpPr>
          <p:nvPr>
            <p:ph type="ctrTitle"/>
          </p:nvPr>
        </p:nvSpPr>
        <p:spPr>
          <a:xfrm>
            <a:off x="1524000" y="613186"/>
            <a:ext cx="9144000" cy="2896777"/>
          </a:xfrm>
        </p:spPr>
        <p:txBody>
          <a:bodyPr>
            <a:normAutofit fontScale="90000"/>
          </a:bodyPr>
          <a:lstStyle/>
          <a:p>
            <a:pPr rtl="0">
              <a:spcBef>
                <a:spcPts val="0"/>
              </a:spcBef>
              <a:spcAft>
                <a:spcPts val="800"/>
              </a:spcAft>
            </a:pPr>
            <a:br>
              <a:rPr lang="en-US" b="0" dirty="0">
                <a:effectLst/>
              </a:rPr>
            </a:br>
            <a:r>
              <a:rPr lang="en-US" sz="4200" b="1" i="0" u="none" strike="noStrike" dirty="0">
                <a:solidFill>
                  <a:schemeClr val="accent2"/>
                </a:solidFill>
                <a:effectLst/>
                <a:latin typeface="Century Gothic" panose="020B0502020202020204" pitchFamily="34" charset="0"/>
                <a:cs typeface="Aharoni" panose="02010803020104030203" pitchFamily="2" charset="-79"/>
              </a:rPr>
              <a:t>What Is Information Technology? </a:t>
            </a:r>
            <a:br>
              <a:rPr lang="en-US" sz="4200" b="1" i="0" u="none" strike="noStrike" dirty="0">
                <a:solidFill>
                  <a:schemeClr val="accent2"/>
                </a:solidFill>
                <a:effectLst/>
                <a:latin typeface="Century Gothic" panose="020B0502020202020204" pitchFamily="34" charset="0"/>
                <a:cs typeface="Aharoni" panose="02010803020104030203" pitchFamily="2" charset="-79"/>
              </a:rPr>
            </a:br>
            <a:r>
              <a:rPr lang="en-US" sz="4200" b="1" i="0" u="none" strike="noStrike" dirty="0">
                <a:solidFill>
                  <a:schemeClr val="accent2"/>
                </a:solidFill>
                <a:effectLst/>
                <a:latin typeface="Century Gothic" panose="020B0502020202020204" pitchFamily="34" charset="0"/>
                <a:cs typeface="Aharoni" panose="02010803020104030203" pitchFamily="2" charset="-79"/>
              </a:rPr>
              <a:t>A Beginner’s Guide to the World of IT</a:t>
            </a:r>
            <a:br>
              <a:rPr lang="en-US" sz="4200" b="1" dirty="0">
                <a:solidFill>
                  <a:schemeClr val="accent2"/>
                </a:solidFill>
                <a:effectLst/>
                <a:latin typeface="Century Gothic" panose="020B0502020202020204" pitchFamily="34" charset="0"/>
              </a:rPr>
            </a:br>
            <a:br>
              <a:rPr lang="en-US" sz="4200" b="1" dirty="0">
                <a:solidFill>
                  <a:schemeClr val="accent2"/>
                </a:solidFill>
                <a:latin typeface="Century Gothic" panose="020B0502020202020204" pitchFamily="34" charset="0"/>
              </a:rPr>
            </a:br>
            <a:endParaRPr lang="en-PH" sz="4200" b="1" dirty="0">
              <a:solidFill>
                <a:schemeClr val="accent2"/>
              </a:solidFill>
              <a:latin typeface="Century Gothic" panose="020B0502020202020204" pitchFamily="34" charset="0"/>
            </a:endParaRPr>
          </a:p>
        </p:txBody>
      </p:sp>
      <p:sp>
        <p:nvSpPr>
          <p:cNvPr id="3" name="Subtitle 2">
            <a:extLst>
              <a:ext uri="{FF2B5EF4-FFF2-40B4-BE49-F238E27FC236}">
                <a16:creationId xmlns:a16="http://schemas.microsoft.com/office/drawing/2014/main" id="{20969B26-28FE-2637-A4A3-69A8B37DB886}"/>
              </a:ext>
            </a:extLst>
          </p:cNvPr>
          <p:cNvSpPr>
            <a:spLocks noGrp="1"/>
          </p:cNvSpPr>
          <p:nvPr>
            <p:ph type="subTitle" idx="1"/>
          </p:nvPr>
        </p:nvSpPr>
        <p:spPr>
          <a:xfrm>
            <a:off x="1524000" y="3602037"/>
            <a:ext cx="9144000" cy="2088757"/>
          </a:xfrm>
        </p:spPr>
        <p:txBody>
          <a:bodyPr>
            <a:normAutofit fontScale="85000" lnSpcReduction="20000"/>
          </a:bodyPr>
          <a:lstStyle/>
          <a:p>
            <a:pPr rtl="0">
              <a:spcBef>
                <a:spcPts val="0"/>
              </a:spcBef>
              <a:spcAft>
                <a:spcPts val="800"/>
              </a:spcAft>
            </a:pPr>
            <a:r>
              <a:rPr lang="en-US" sz="2200" b="1" i="0" u="none" strike="noStrike" dirty="0">
                <a:solidFill>
                  <a:schemeClr val="accent4"/>
                </a:solidFill>
                <a:effectLst/>
                <a:latin typeface="Calibri" panose="020F0502020204030204" pitchFamily="34" charset="0"/>
              </a:rPr>
              <a:t>For many people, information technology (IT) is basically synonymous with the people you call when you need help with a computer issue. While that view of information technology isn't totally wrong, it drastically understates the scope of this critical career field.</a:t>
            </a:r>
            <a:endParaRPr lang="en-US" sz="2200" b="1" dirty="0">
              <a:solidFill>
                <a:schemeClr val="accent4"/>
              </a:solidFill>
              <a:effectLst/>
            </a:endParaRPr>
          </a:p>
          <a:p>
            <a:pPr rtl="0">
              <a:spcBef>
                <a:spcPts val="0"/>
              </a:spcBef>
              <a:spcAft>
                <a:spcPts val="800"/>
              </a:spcAft>
            </a:pPr>
            <a:r>
              <a:rPr lang="en-US" sz="2200" b="1" i="0" u="none" strike="noStrike" dirty="0">
                <a:solidFill>
                  <a:schemeClr val="accent4"/>
                </a:solidFill>
                <a:effectLst/>
                <a:latin typeface="Calibri" panose="020F0502020204030204" pitchFamily="34" charset="0"/>
              </a:rPr>
              <a:t>If you're looking to get a better handle on what information technology is - and the many facets of this field - then you've come to the right place.</a:t>
            </a:r>
            <a:endParaRPr lang="en-US" sz="2200" b="1" dirty="0">
              <a:solidFill>
                <a:schemeClr val="accent4"/>
              </a:solidFill>
              <a:effectLst/>
            </a:endParaRPr>
          </a:p>
          <a:p>
            <a:br>
              <a:rPr lang="en-US" b="1" dirty="0">
                <a:solidFill>
                  <a:schemeClr val="accent4"/>
                </a:solidFill>
              </a:rPr>
            </a:br>
            <a:endParaRPr lang="en-PH" b="1" dirty="0">
              <a:solidFill>
                <a:schemeClr val="accent4"/>
              </a:solidFill>
            </a:endParaRPr>
          </a:p>
        </p:txBody>
      </p:sp>
    </p:spTree>
    <p:extLst>
      <p:ext uri="{BB962C8B-B14F-4D97-AF65-F5344CB8AC3E}">
        <p14:creationId xmlns:p14="http://schemas.microsoft.com/office/powerpoint/2010/main" val="73677101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circle(in)">
                                      <p:cBhvr>
                                        <p:cTn id="15"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F28BC-2A8C-E726-8552-43372749D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5125"/>
            <a:ext cx="10515600" cy="5723703"/>
          </a:xfrm>
          <a:prstGeom prst="rect">
            <a:avLst/>
          </a:prstGeom>
        </p:spPr>
      </p:pic>
      <p:sp>
        <p:nvSpPr>
          <p:cNvPr id="2" name="Title 1">
            <a:extLst>
              <a:ext uri="{FF2B5EF4-FFF2-40B4-BE49-F238E27FC236}">
                <a16:creationId xmlns:a16="http://schemas.microsoft.com/office/drawing/2014/main" id="{8C11819F-F955-B578-BF7A-39E69C95D7BB}"/>
              </a:ext>
            </a:extLst>
          </p:cNvPr>
          <p:cNvSpPr>
            <a:spLocks noGrp="1"/>
          </p:cNvSpPr>
          <p:nvPr>
            <p:ph type="title"/>
          </p:nvPr>
        </p:nvSpPr>
        <p:spPr/>
        <p:txBody>
          <a:bodyPr>
            <a:normAutofit/>
          </a:bodyPr>
          <a:lstStyle/>
          <a:p>
            <a:pPr algn="ctr"/>
            <a:r>
              <a:rPr lang="en-PH" sz="3800" dirty="0">
                <a:solidFill>
                  <a:schemeClr val="accent2"/>
                </a:solidFill>
                <a:latin typeface="Century Gothic" panose="020B0502020202020204" pitchFamily="34" charset="0"/>
              </a:rPr>
              <a:t>What is information Technology and what does it encompass</a:t>
            </a:r>
            <a:r>
              <a:rPr lang="en-PH" sz="3800" dirty="0">
                <a:latin typeface="Century Gothic" panose="020B0502020202020204" pitchFamily="34" charset="0"/>
              </a:rPr>
              <a:t>?</a:t>
            </a:r>
          </a:p>
        </p:txBody>
      </p:sp>
      <p:sp>
        <p:nvSpPr>
          <p:cNvPr id="3" name="Content Placeholder 2">
            <a:extLst>
              <a:ext uri="{FF2B5EF4-FFF2-40B4-BE49-F238E27FC236}">
                <a16:creationId xmlns:a16="http://schemas.microsoft.com/office/drawing/2014/main" id="{AE1BA971-6E1A-B7B9-CD9B-F9B3E049012C}"/>
              </a:ext>
            </a:extLst>
          </p:cNvPr>
          <p:cNvSpPr>
            <a:spLocks noGrp="1"/>
          </p:cNvSpPr>
          <p:nvPr>
            <p:ph idx="1"/>
          </p:nvPr>
        </p:nvSpPr>
        <p:spPr/>
        <p:txBody>
          <a:bodyPr>
            <a:noAutofit/>
          </a:bodyPr>
          <a:lstStyle/>
          <a:p>
            <a:pPr marL="0" indent="0" algn="ctr" rtl="0">
              <a:spcBef>
                <a:spcPts val="0"/>
              </a:spcBef>
              <a:spcAft>
                <a:spcPts val="800"/>
              </a:spcAft>
              <a:buNone/>
            </a:pPr>
            <a:r>
              <a:rPr lang="en-US" sz="2000" b="1" i="0" u="none" strike="noStrike" dirty="0">
                <a:solidFill>
                  <a:schemeClr val="accent4"/>
                </a:solidFill>
                <a:effectLst/>
                <a:latin typeface="Century Gothic" panose="020B0502020202020204" pitchFamily="34" charset="0"/>
              </a:rPr>
              <a:t>The most basic information technology definition is that it's the application of technology to solve business or organizational problems on a broad scale.</a:t>
            </a:r>
            <a:endParaRPr lang="en-US" sz="2000" b="1" dirty="0">
              <a:solidFill>
                <a:schemeClr val="accent4"/>
              </a:solidFill>
              <a:effectLst/>
              <a:latin typeface="Century Gothic" panose="020B0502020202020204" pitchFamily="34" charset="0"/>
            </a:endParaRPr>
          </a:p>
          <a:p>
            <a:pPr marL="0" indent="0" algn="ctr" rtl="0">
              <a:spcBef>
                <a:spcPts val="0"/>
              </a:spcBef>
              <a:spcAft>
                <a:spcPts val="800"/>
              </a:spcAft>
              <a:buNone/>
            </a:pPr>
            <a:r>
              <a:rPr lang="en-US" sz="2000" b="1" i="0" u="none" strike="noStrike" dirty="0">
                <a:solidFill>
                  <a:schemeClr val="accent4"/>
                </a:solidFill>
                <a:effectLst/>
                <a:latin typeface="Century Gothic" panose="020B0502020202020204" pitchFamily="34" charset="0"/>
              </a:rPr>
              <a:t>No matter their specific IT role, members of an IT department work with others to solve technology problems, both big and small. Information technology plays such a vital role in today's wireless world</a:t>
            </a:r>
            <a:r>
              <a:rPr lang="en-US" sz="2000" b="1" i="0" u="none" strike="noStrike" dirty="0">
                <a:solidFill>
                  <a:srgbClr val="000000"/>
                </a:solidFill>
                <a:effectLst/>
                <a:latin typeface="Century Gothic" panose="020B0502020202020204" pitchFamily="34" charset="0"/>
              </a:rPr>
              <a:t>.</a:t>
            </a:r>
            <a:endParaRPr lang="en-US" sz="2000" b="1" dirty="0">
              <a:effectLst/>
              <a:latin typeface="Century Gothic" panose="020B0502020202020204" pitchFamily="34" charset="0"/>
            </a:endParaRPr>
          </a:p>
          <a:p>
            <a:pPr marL="0" indent="0" algn="ctr" rtl="0">
              <a:spcBef>
                <a:spcPts val="0"/>
              </a:spcBef>
              <a:spcAft>
                <a:spcPts val="800"/>
              </a:spcAft>
              <a:buNone/>
            </a:pPr>
            <a:br>
              <a:rPr lang="en-US" sz="2000" b="1" dirty="0">
                <a:latin typeface="Century Gothic" panose="020B0502020202020204" pitchFamily="34" charset="0"/>
              </a:rPr>
            </a:br>
            <a:r>
              <a:rPr lang="en-US" sz="2000" b="1" i="0" u="none" strike="noStrike" dirty="0">
                <a:solidFill>
                  <a:schemeClr val="accent4"/>
                </a:solidFill>
                <a:effectLst/>
                <a:latin typeface="Century Gothic" panose="020B0502020202020204" pitchFamily="34" charset="0"/>
              </a:rPr>
              <a:t>To enhance operational efficiency, many global companies compete for a workforce with salient technical skills and often hire network administration professionals, network monitoring staff, user support technicians, network architects, other architecture experts and many other individuals.</a:t>
            </a:r>
            <a:endParaRPr lang="en-US" sz="2000" b="1" dirty="0">
              <a:solidFill>
                <a:schemeClr val="accent4"/>
              </a:solidFill>
              <a:effectLst/>
              <a:latin typeface="Century Gothic" panose="020B0502020202020204" pitchFamily="34" charset="0"/>
            </a:endParaRPr>
          </a:p>
          <a:p>
            <a:pPr marL="0" indent="0" algn="ctr" rtl="0">
              <a:spcBef>
                <a:spcPts val="0"/>
              </a:spcBef>
              <a:spcAft>
                <a:spcPts val="800"/>
              </a:spcAft>
              <a:buNone/>
            </a:pPr>
            <a:r>
              <a:rPr lang="en-US" sz="2000" b="1" i="0" u="none" strike="noStrike" dirty="0">
                <a:solidFill>
                  <a:schemeClr val="accent4"/>
                </a:solidFill>
                <a:effectLst/>
                <a:latin typeface="Century Gothic" panose="020B0502020202020204" pitchFamily="34" charset="0"/>
              </a:rPr>
              <a:t>You might already know that an IT department serves to ensure that the computer network, computer hardware, computing devices, and other physical devices all </a:t>
            </a:r>
            <a:endParaRPr lang="en-US" sz="2000" b="1" dirty="0">
              <a:solidFill>
                <a:schemeClr val="accent4"/>
              </a:solidFill>
              <a:effectLst/>
              <a:latin typeface="Century Gothic" panose="020B0502020202020204" pitchFamily="34" charset="0"/>
            </a:endParaRPr>
          </a:p>
          <a:p>
            <a:pPr marL="0" indent="0">
              <a:buNone/>
            </a:pPr>
            <a:br>
              <a:rPr lang="en-US" sz="2000" b="1" dirty="0"/>
            </a:br>
            <a:endParaRPr lang="en-PH" sz="2000" b="1" dirty="0"/>
          </a:p>
        </p:txBody>
      </p:sp>
    </p:spTree>
    <p:extLst>
      <p:ext uri="{BB962C8B-B14F-4D97-AF65-F5344CB8AC3E}">
        <p14:creationId xmlns:p14="http://schemas.microsoft.com/office/powerpoint/2010/main" val="143052972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circle(in)">
                                      <p:cBhvr>
                                        <p:cTn id="14" dur="2000"/>
                                        <p:tgtEl>
                                          <p:spTgt spid="3">
                                            <p:txEl>
                                              <p:pRg st="0" end="0"/>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circle(in)">
                                      <p:cBhvr>
                                        <p:cTn id="20" dur="2000"/>
                                        <p:tgtEl>
                                          <p:spTgt spid="3">
                                            <p:txEl>
                                              <p:pRg st="2" end="2"/>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circle(in)">
                                      <p:cBhvr>
                                        <p:cTn id="23" dur="2000"/>
                                        <p:tgtEl>
                                          <p:spTgt spid="3">
                                            <p:txEl>
                                              <p:pRg st="3" end="3"/>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circle(in)">
                                      <p:cBhvr>
                                        <p:cTn id="26"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2E59405-3DAB-9888-D5C2-CCBD5A381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11972"/>
            <a:ext cx="10515600" cy="5787614"/>
          </a:xfrm>
          <a:prstGeom prst="rect">
            <a:avLst/>
          </a:prstGeom>
        </p:spPr>
      </p:pic>
      <p:sp>
        <p:nvSpPr>
          <p:cNvPr id="3" name="Content Placeholder 2">
            <a:extLst>
              <a:ext uri="{FF2B5EF4-FFF2-40B4-BE49-F238E27FC236}">
                <a16:creationId xmlns:a16="http://schemas.microsoft.com/office/drawing/2014/main" id="{1622E040-93D7-7042-AFE5-30D81934C6F5}"/>
              </a:ext>
            </a:extLst>
          </p:cNvPr>
          <p:cNvSpPr>
            <a:spLocks noGrp="1"/>
          </p:cNvSpPr>
          <p:nvPr>
            <p:ph idx="1"/>
          </p:nvPr>
        </p:nvSpPr>
        <p:spPr>
          <a:xfrm>
            <a:off x="838200" y="311972"/>
            <a:ext cx="10515600" cy="5864991"/>
          </a:xfrm>
        </p:spPr>
        <p:txBody>
          <a:bodyPr>
            <a:normAutofit fontScale="62500" lnSpcReduction="20000"/>
          </a:bodyPr>
          <a:lstStyle/>
          <a:p>
            <a:endParaRPr lang="en-PH" dirty="0">
              <a:solidFill>
                <a:schemeClr val="accent4"/>
              </a:solidFill>
            </a:endParaRPr>
          </a:p>
          <a:p>
            <a:pPr algn="just" rtl="0">
              <a:spcBef>
                <a:spcPts val="0"/>
              </a:spcBef>
              <a:spcAft>
                <a:spcPts val="800"/>
              </a:spcAft>
            </a:pPr>
            <a:r>
              <a:rPr lang="en-US" sz="2900" b="1" i="0" u="none" strike="noStrike" dirty="0">
                <a:solidFill>
                  <a:schemeClr val="accent4"/>
                </a:solidFill>
                <a:effectLst/>
                <a:latin typeface="Century Gothic" panose="020B0502020202020204" pitchFamily="34" charset="0"/>
              </a:rPr>
              <a:t>IT governance: This refers to the combination of policies and processes that ensure IT systems are effectively run and in alignment with the organization's needs</a:t>
            </a:r>
            <a:r>
              <a:rPr lang="en-US" sz="2900" b="1" i="0" u="none" strike="noStrike" dirty="0">
                <a:solidFill>
                  <a:schemeClr val="accent2"/>
                </a:solidFill>
                <a:effectLst/>
                <a:latin typeface="Century Gothic" panose="020B0502020202020204" pitchFamily="34" charset="0"/>
              </a:rPr>
              <a:t>.</a:t>
            </a:r>
          </a:p>
          <a:p>
            <a:pPr marL="0" indent="0" algn="just" rtl="0">
              <a:spcBef>
                <a:spcPts val="0"/>
              </a:spcBef>
              <a:spcAft>
                <a:spcPts val="800"/>
              </a:spcAft>
              <a:buNone/>
            </a:pPr>
            <a:endParaRPr lang="en-US" sz="2900" b="1" dirty="0">
              <a:effectLst/>
              <a:latin typeface="Century Gothic" panose="020B0502020202020204" pitchFamily="34" charset="0"/>
            </a:endParaRPr>
          </a:p>
          <a:p>
            <a:pPr algn="just" rtl="0">
              <a:spcBef>
                <a:spcPts val="0"/>
              </a:spcBef>
              <a:spcAft>
                <a:spcPts val="800"/>
              </a:spcAft>
            </a:pPr>
            <a:r>
              <a:rPr lang="en-US" sz="2900" b="1" i="0" u="none" strike="noStrike" dirty="0">
                <a:solidFill>
                  <a:schemeClr val="accent2"/>
                </a:solidFill>
                <a:effectLst/>
                <a:latin typeface="Century Gothic" panose="020B0502020202020204" pitchFamily="34" charset="0"/>
              </a:rPr>
              <a:t>IT operations: This is a catchall category for the daily work of an IT department. This includes providing tech support, network maintenance, communication protocols, security testing and device management duties.</a:t>
            </a:r>
            <a:endParaRPr lang="en-US" sz="2900" b="1" dirty="0">
              <a:solidFill>
                <a:schemeClr val="accent2"/>
              </a:solidFill>
              <a:effectLst/>
              <a:latin typeface="Century Gothic" panose="020B0502020202020204" pitchFamily="34" charset="0"/>
            </a:endParaRPr>
          </a:p>
          <a:p>
            <a:r>
              <a:rPr lang="en-US" sz="2900" b="1" i="0" u="none" strike="noStrike" dirty="0">
                <a:solidFill>
                  <a:schemeClr val="accent4"/>
                </a:solidFill>
                <a:effectLst/>
                <a:latin typeface="Century Gothic" panose="020B0502020202020204" pitchFamily="34" charset="0"/>
              </a:rPr>
              <a:t>Hardware and software infrastructure: This focus area refers to all the physical components of IT infrastructure. This pillar of IT includes the setup and maintenance of equipment like routers, servers, phone systems and inventory control - including individual devices like laptops.</a:t>
            </a:r>
          </a:p>
          <a:p>
            <a:pPr marL="0" indent="0">
              <a:buNone/>
            </a:pPr>
            <a:endParaRPr lang="en-US" sz="2900" b="1" i="0" u="none" strike="noStrike" dirty="0">
              <a:solidFill>
                <a:schemeClr val="accent2"/>
              </a:solidFill>
              <a:effectLst/>
              <a:latin typeface="Century Gothic" panose="020B0502020202020204" pitchFamily="34" charset="0"/>
            </a:endParaRPr>
          </a:p>
          <a:p>
            <a:pPr algn="just" rtl="0">
              <a:spcBef>
                <a:spcPts val="0"/>
              </a:spcBef>
              <a:spcAft>
                <a:spcPts val="800"/>
              </a:spcAft>
            </a:pPr>
            <a:r>
              <a:rPr lang="en-US" sz="2900" b="1" i="0" u="none" strike="noStrike" dirty="0">
                <a:solidFill>
                  <a:schemeClr val="accent2"/>
                </a:solidFill>
                <a:effectLst/>
                <a:latin typeface="Century Gothic" panose="020B0502020202020204" pitchFamily="34" charset="0"/>
              </a:rPr>
              <a:t>IT departments also help to automate the business environment and create processes for many of their respective company's daily tasks, so that the business continues to run smoothly.</a:t>
            </a:r>
            <a:endParaRPr lang="en-US" sz="2900" b="1" dirty="0">
              <a:solidFill>
                <a:schemeClr val="accent2"/>
              </a:solidFill>
              <a:effectLst/>
              <a:latin typeface="Century Gothic" panose="020B0502020202020204" pitchFamily="34" charset="0"/>
            </a:endParaRPr>
          </a:p>
          <a:p>
            <a:pPr marL="0" indent="0" algn="just" rtl="0">
              <a:spcBef>
                <a:spcPts val="0"/>
              </a:spcBef>
              <a:spcAft>
                <a:spcPts val="800"/>
              </a:spcAft>
              <a:buNone/>
            </a:pPr>
            <a:endParaRPr lang="en-US" sz="2900" b="1" i="0" u="none" strike="noStrike" dirty="0">
              <a:solidFill>
                <a:schemeClr val="accent2"/>
              </a:solidFill>
              <a:effectLst/>
              <a:latin typeface="Century Gothic" panose="020B0502020202020204" pitchFamily="34" charset="0"/>
            </a:endParaRPr>
          </a:p>
          <a:p>
            <a:pPr marL="0" indent="0" algn="ctr" rtl="0">
              <a:spcBef>
                <a:spcPts val="0"/>
              </a:spcBef>
              <a:spcAft>
                <a:spcPts val="800"/>
              </a:spcAft>
              <a:buNone/>
            </a:pPr>
            <a:r>
              <a:rPr lang="en-US" sz="2700" b="1" i="0" u="none" strike="noStrike" dirty="0">
                <a:solidFill>
                  <a:schemeClr val="accent4"/>
                </a:solidFill>
                <a:effectLst/>
                <a:latin typeface="Century Gothic" panose="020B0502020202020204" pitchFamily="34" charset="0"/>
              </a:rPr>
              <a:t>The ideal IT department is also aligned with the business's goals. Additionally, the department should always be transparent in its processes - providing valuable insights in a way that the rest of the business can understand and provide input on</a:t>
            </a:r>
            <a:r>
              <a:rPr lang="en-US" sz="2700" b="1" i="0" u="none" strike="noStrike" dirty="0">
                <a:solidFill>
                  <a:srgbClr val="000000"/>
                </a:solidFill>
                <a:effectLst/>
                <a:latin typeface="Century Gothic" panose="020B0502020202020204" pitchFamily="34" charset="0"/>
              </a:rPr>
              <a:t>.</a:t>
            </a:r>
            <a:endParaRPr lang="en-US" sz="2700" b="1" dirty="0">
              <a:effectLst/>
              <a:latin typeface="Century Gothic" panose="020B0502020202020204" pitchFamily="34" charset="0"/>
            </a:endParaRPr>
          </a:p>
          <a:p>
            <a:pPr marL="0" indent="0">
              <a:buNone/>
            </a:pPr>
            <a:br>
              <a:rPr lang="en-US" sz="2700" dirty="0"/>
            </a:br>
            <a:br>
              <a:rPr lang="en-US" dirty="0"/>
            </a:br>
            <a:br>
              <a:rPr lang="en-US" dirty="0"/>
            </a:br>
            <a:br>
              <a:rPr lang="en-US" dirty="0"/>
            </a:br>
            <a:endParaRPr lang="en-PH" dirty="0"/>
          </a:p>
        </p:txBody>
      </p:sp>
    </p:spTree>
    <p:extLst>
      <p:ext uri="{BB962C8B-B14F-4D97-AF65-F5344CB8AC3E}">
        <p14:creationId xmlns:p14="http://schemas.microsoft.com/office/powerpoint/2010/main" val="289375412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Hardware vs. Software Vulnerabilities">
            <a:extLst>
              <a:ext uri="{FF2B5EF4-FFF2-40B4-BE49-F238E27FC236}">
                <a16:creationId xmlns:a16="http://schemas.microsoft.com/office/drawing/2014/main" id="{2CA88D37-CB25-5D58-73AC-AF38A1B6E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759" y="365125"/>
            <a:ext cx="10428482" cy="58245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2F029DA-F11F-6721-1731-6C26CC3C1D0F}"/>
              </a:ext>
            </a:extLst>
          </p:cNvPr>
          <p:cNvSpPr>
            <a:spLocks noGrp="1"/>
          </p:cNvSpPr>
          <p:nvPr>
            <p:ph type="title"/>
          </p:nvPr>
        </p:nvSpPr>
        <p:spPr/>
        <p:txBody>
          <a:bodyPr/>
          <a:lstStyle/>
          <a:p>
            <a:pPr algn="ctr"/>
            <a:r>
              <a:rPr lang="en-PH" dirty="0">
                <a:solidFill>
                  <a:schemeClr val="accent2">
                    <a:lumMod val="20000"/>
                    <a:lumOff val="80000"/>
                  </a:schemeClr>
                </a:solidFill>
                <a:latin typeface="Century Gothic" panose="020B0502020202020204" pitchFamily="34" charset="0"/>
              </a:rPr>
              <a:t>What is the Difference between Hardware and Software</a:t>
            </a:r>
          </a:p>
        </p:txBody>
      </p:sp>
      <p:sp>
        <p:nvSpPr>
          <p:cNvPr id="3" name="Text Placeholder 2">
            <a:extLst>
              <a:ext uri="{FF2B5EF4-FFF2-40B4-BE49-F238E27FC236}">
                <a16:creationId xmlns:a16="http://schemas.microsoft.com/office/drawing/2014/main" id="{18D4D71A-4D15-8420-B40D-BE70267C0BEA}"/>
              </a:ext>
            </a:extLst>
          </p:cNvPr>
          <p:cNvSpPr>
            <a:spLocks noGrp="1"/>
          </p:cNvSpPr>
          <p:nvPr>
            <p:ph type="body" idx="1"/>
          </p:nvPr>
        </p:nvSpPr>
        <p:spPr>
          <a:xfrm>
            <a:off x="881759" y="1681163"/>
            <a:ext cx="5115816" cy="823912"/>
          </a:xfrm>
        </p:spPr>
        <p:txBody>
          <a:bodyPr>
            <a:normAutofit fontScale="25000" lnSpcReduction="20000"/>
          </a:bodyPr>
          <a:lstStyle/>
          <a:p>
            <a:pPr algn="ctr"/>
            <a:r>
              <a:rPr lang="en-PH" sz="11600" dirty="0">
                <a:solidFill>
                  <a:schemeClr val="accent2">
                    <a:lumMod val="60000"/>
                    <a:lumOff val="40000"/>
                  </a:schemeClr>
                </a:solidFill>
                <a:latin typeface="Century Gothic" panose="020B0502020202020204" pitchFamily="34" charset="0"/>
              </a:rPr>
              <a:t>Hardware</a:t>
            </a:r>
          </a:p>
          <a:p>
            <a:pPr algn="ctr"/>
            <a:endParaRPr lang="en-PH" dirty="0"/>
          </a:p>
        </p:txBody>
      </p:sp>
      <p:sp>
        <p:nvSpPr>
          <p:cNvPr id="4" name="Content Placeholder 3">
            <a:extLst>
              <a:ext uri="{FF2B5EF4-FFF2-40B4-BE49-F238E27FC236}">
                <a16:creationId xmlns:a16="http://schemas.microsoft.com/office/drawing/2014/main" id="{8F260F56-23B3-DA30-0F63-5301842A3B8A}"/>
              </a:ext>
            </a:extLst>
          </p:cNvPr>
          <p:cNvSpPr>
            <a:spLocks noGrp="1"/>
          </p:cNvSpPr>
          <p:nvPr>
            <p:ph sz="half" idx="2"/>
          </p:nvPr>
        </p:nvSpPr>
        <p:spPr/>
        <p:txBody>
          <a:bodyPr/>
          <a:lstStyle/>
          <a:p>
            <a:r>
              <a:rPr lang="en-US" sz="1800" b="1" i="0" u="none" strike="noStrike" dirty="0">
                <a:solidFill>
                  <a:schemeClr val="accent2">
                    <a:lumMod val="40000"/>
                    <a:lumOff val="60000"/>
                  </a:schemeClr>
                </a:solidFill>
                <a:effectLst/>
                <a:latin typeface="Century Gothic" panose="020B0502020202020204" pitchFamily="34" charset="0"/>
              </a:rPr>
              <a:t>Hardware includes all the physical parts of a computer system. This includes hardware installed inside the computer like the motherboard, central processing unit and hard drive.</a:t>
            </a:r>
            <a:endParaRPr lang="en-PH" b="1" dirty="0">
              <a:solidFill>
                <a:schemeClr val="accent2">
                  <a:lumMod val="40000"/>
                  <a:lumOff val="60000"/>
                </a:schemeClr>
              </a:solidFill>
              <a:latin typeface="Century Gothic" panose="020B0502020202020204" pitchFamily="34" charset="0"/>
            </a:endParaRPr>
          </a:p>
        </p:txBody>
      </p:sp>
      <p:sp>
        <p:nvSpPr>
          <p:cNvPr id="5" name="Text Placeholder 4">
            <a:extLst>
              <a:ext uri="{FF2B5EF4-FFF2-40B4-BE49-F238E27FC236}">
                <a16:creationId xmlns:a16="http://schemas.microsoft.com/office/drawing/2014/main" id="{17523DDF-5CF5-614F-D95A-07CB05A11810}"/>
              </a:ext>
            </a:extLst>
          </p:cNvPr>
          <p:cNvSpPr>
            <a:spLocks noGrp="1"/>
          </p:cNvSpPr>
          <p:nvPr>
            <p:ph type="body" sz="quarter" idx="3"/>
          </p:nvPr>
        </p:nvSpPr>
        <p:spPr/>
        <p:txBody>
          <a:bodyPr>
            <a:normAutofit fontScale="25000" lnSpcReduction="20000"/>
          </a:bodyPr>
          <a:lstStyle/>
          <a:p>
            <a:endParaRPr lang="en-PH" dirty="0"/>
          </a:p>
          <a:p>
            <a:endParaRPr lang="en-PH" dirty="0"/>
          </a:p>
          <a:p>
            <a:pPr algn="ctr"/>
            <a:r>
              <a:rPr lang="en-PH" sz="11600" dirty="0">
                <a:solidFill>
                  <a:schemeClr val="accent4">
                    <a:lumMod val="40000"/>
                    <a:lumOff val="60000"/>
                  </a:schemeClr>
                </a:solidFill>
                <a:latin typeface="Century Gothic" panose="020B0502020202020204" pitchFamily="34" charset="0"/>
              </a:rPr>
              <a:t>Software</a:t>
            </a:r>
          </a:p>
          <a:p>
            <a:pPr algn="ctr"/>
            <a:r>
              <a:rPr lang="en-PH" dirty="0"/>
              <a:t>\</a:t>
            </a:r>
          </a:p>
        </p:txBody>
      </p:sp>
      <p:sp>
        <p:nvSpPr>
          <p:cNvPr id="6" name="Content Placeholder 5">
            <a:extLst>
              <a:ext uri="{FF2B5EF4-FFF2-40B4-BE49-F238E27FC236}">
                <a16:creationId xmlns:a16="http://schemas.microsoft.com/office/drawing/2014/main" id="{871B5955-0831-FC1F-AAE4-D539C9FCAEA5}"/>
              </a:ext>
            </a:extLst>
          </p:cNvPr>
          <p:cNvSpPr>
            <a:spLocks noGrp="1"/>
          </p:cNvSpPr>
          <p:nvPr>
            <p:ph sz="quarter" idx="4"/>
          </p:nvPr>
        </p:nvSpPr>
        <p:spPr/>
        <p:txBody>
          <a:bodyPr/>
          <a:lstStyle/>
          <a:p>
            <a:pPr algn="just" rtl="0">
              <a:spcBef>
                <a:spcPts val="0"/>
              </a:spcBef>
              <a:spcAft>
                <a:spcPts val="800"/>
              </a:spcAft>
            </a:pPr>
            <a:r>
              <a:rPr lang="en-US" sz="1800" b="1" dirty="0">
                <a:solidFill>
                  <a:schemeClr val="accent4">
                    <a:lumMod val="60000"/>
                    <a:lumOff val="40000"/>
                  </a:schemeClr>
                </a:solidFill>
                <a:latin typeface="Calibri" panose="020F0502020204030204" pitchFamily="34" charset="0"/>
              </a:rPr>
              <a:t>S</a:t>
            </a:r>
            <a:r>
              <a:rPr lang="en-US" sz="1800" b="1" i="0" u="none" strike="noStrike" dirty="0">
                <a:solidFill>
                  <a:schemeClr val="accent4">
                    <a:lumMod val="60000"/>
                    <a:lumOff val="40000"/>
                  </a:schemeClr>
                </a:solidFill>
                <a:effectLst/>
                <a:latin typeface="Calibri" panose="020F0502020204030204" pitchFamily="34" charset="0"/>
              </a:rPr>
              <a:t>oftware is not something you can physically change. Software encompasses all the data, application and programs stored electronically, like an operating system or a video-editing tool.</a:t>
            </a:r>
            <a:endParaRPr lang="en-US" b="1" dirty="0">
              <a:solidFill>
                <a:schemeClr val="accent4">
                  <a:lumMod val="60000"/>
                  <a:lumOff val="40000"/>
                </a:schemeClr>
              </a:solidFill>
              <a:effectLst/>
            </a:endParaRPr>
          </a:p>
          <a:p>
            <a:pPr marL="0" indent="0">
              <a:buNone/>
            </a:pPr>
            <a:br>
              <a:rPr lang="en-US" b="1" dirty="0"/>
            </a:br>
            <a:endParaRPr lang="en-PH" b="1" dirty="0"/>
          </a:p>
        </p:txBody>
      </p:sp>
      <p:sp>
        <p:nvSpPr>
          <p:cNvPr id="7" name="Title 1">
            <a:extLst>
              <a:ext uri="{FF2B5EF4-FFF2-40B4-BE49-F238E27FC236}">
                <a16:creationId xmlns:a16="http://schemas.microsoft.com/office/drawing/2014/main" id="{3361E174-E78A-70D0-C0D0-E7BAE1B6495F}"/>
              </a:ext>
            </a:extLst>
          </p:cNvPr>
          <p:cNvSpPr txBox="1">
            <a:spLocks/>
          </p:cNvSpPr>
          <p:nvPr/>
        </p:nvSpPr>
        <p:spPr>
          <a:xfrm>
            <a:off x="881759"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dirty="0">
                <a:solidFill>
                  <a:schemeClr val="accent2">
                    <a:lumMod val="20000"/>
                    <a:lumOff val="80000"/>
                  </a:schemeClr>
                </a:solidFill>
                <a:latin typeface="Century Gothic" panose="020B0502020202020204" pitchFamily="34" charset="0"/>
              </a:rPr>
              <a:t>What is the Difference between Hardware and Software</a:t>
            </a:r>
          </a:p>
        </p:txBody>
      </p:sp>
    </p:spTree>
    <p:extLst>
      <p:ext uri="{BB962C8B-B14F-4D97-AF65-F5344CB8AC3E}">
        <p14:creationId xmlns:p14="http://schemas.microsoft.com/office/powerpoint/2010/main" val="68685483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 calcmode="lin" valueType="num">
                                      <p:cBhvr additive="base">
                                        <p:cTn id="26"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 calcmode="lin" valueType="num">
                                      <p:cBhvr additive="base">
                                        <p:cTn id="3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
                                            <p:txEl>
                                              <p:pRg st="0" end="0"/>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 calcmode="lin" valueType="num">
                                      <p:cBhvr additive="base">
                                        <p:cTn id="36"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circle(in)">
                                      <p:cBhvr>
                                        <p:cTn id="4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eanship of Scientific Research at Al-Quds University - Vol 1 No.1">
            <a:extLst>
              <a:ext uri="{FF2B5EF4-FFF2-40B4-BE49-F238E27FC236}">
                <a16:creationId xmlns:a16="http://schemas.microsoft.com/office/drawing/2014/main" id="{519B6053-9555-1C47-5243-768B1124D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561" y="376517"/>
            <a:ext cx="10811832" cy="59711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ACFA458-AE69-A500-35EA-46C2429739C8}"/>
              </a:ext>
            </a:extLst>
          </p:cNvPr>
          <p:cNvSpPr>
            <a:spLocks noGrp="1"/>
          </p:cNvSpPr>
          <p:nvPr>
            <p:ph type="title"/>
          </p:nvPr>
        </p:nvSpPr>
        <p:spPr>
          <a:xfrm>
            <a:off x="605560" y="257549"/>
            <a:ext cx="10811833" cy="6090104"/>
          </a:xfrm>
        </p:spPr>
        <p:txBody>
          <a:bodyPr>
            <a:normAutofit/>
          </a:bodyPr>
          <a:lstStyle/>
          <a:p>
            <a:pPr algn="ctr" rtl="0">
              <a:spcBef>
                <a:spcPts val="0"/>
              </a:spcBef>
              <a:spcAft>
                <a:spcPts val="800"/>
              </a:spcAft>
            </a:pPr>
            <a:br>
              <a:rPr lang="en-US" sz="1800" b="0" i="0" u="none" strike="noStrike" dirty="0">
                <a:solidFill>
                  <a:srgbClr val="000000"/>
                </a:solidFill>
                <a:effectLst/>
                <a:latin typeface="Aharoni" panose="02010803020104030203" pitchFamily="2" charset="-79"/>
                <a:cs typeface="Aharoni" panose="02010803020104030203" pitchFamily="2" charset="-79"/>
              </a:rPr>
            </a:br>
            <a:br>
              <a:rPr lang="en-US" sz="1800" b="0" i="0" u="none" strike="noStrike" dirty="0">
                <a:solidFill>
                  <a:srgbClr val="000000"/>
                </a:solidFill>
                <a:effectLst/>
                <a:latin typeface="Aharoni" panose="02010803020104030203" pitchFamily="2" charset="-79"/>
                <a:cs typeface="Aharoni" panose="02010803020104030203" pitchFamily="2" charset="-79"/>
              </a:rPr>
            </a:br>
            <a:br>
              <a:rPr lang="en-US" sz="1800" b="0" i="0" u="none" strike="noStrike" dirty="0">
                <a:solidFill>
                  <a:srgbClr val="000000"/>
                </a:solidFill>
                <a:effectLst/>
                <a:latin typeface="Aharoni" panose="02010803020104030203" pitchFamily="2" charset="-79"/>
                <a:cs typeface="Aharoni" panose="02010803020104030203" pitchFamily="2" charset="-79"/>
              </a:rPr>
            </a:br>
            <a:br>
              <a:rPr lang="en-US" sz="1800" b="0" i="0" u="none" strike="noStrike" dirty="0">
                <a:solidFill>
                  <a:srgbClr val="000000"/>
                </a:solidFill>
                <a:effectLst/>
                <a:latin typeface="Aharoni" panose="02010803020104030203" pitchFamily="2" charset="-79"/>
                <a:cs typeface="Aharoni" panose="02010803020104030203" pitchFamily="2" charset="-79"/>
              </a:rPr>
            </a:br>
            <a:r>
              <a:rPr lang="en-US" sz="5500" b="1" i="0" u="none" strike="noStrike" dirty="0">
                <a:solidFill>
                  <a:schemeClr val="accent4"/>
                </a:solidFill>
                <a:effectLst/>
                <a:latin typeface="Century Gothic" panose="020B0502020202020204" pitchFamily="34" charset="0"/>
                <a:cs typeface="Aharoni" panose="02010803020104030203" pitchFamily="2" charset="-79"/>
              </a:rPr>
              <a:t>Why is information technology so important?</a:t>
            </a:r>
            <a:br>
              <a:rPr lang="en-US" b="0" dirty="0">
                <a:solidFill>
                  <a:schemeClr val="accent4"/>
                </a:solidFill>
                <a:effectLst/>
              </a:rPr>
            </a:br>
            <a:br>
              <a:rPr lang="en-US" dirty="0"/>
            </a:br>
            <a:endParaRPr lang="en-PH" dirty="0"/>
          </a:p>
        </p:txBody>
      </p:sp>
    </p:spTree>
    <p:extLst>
      <p:ext uri="{BB962C8B-B14F-4D97-AF65-F5344CB8AC3E}">
        <p14:creationId xmlns:p14="http://schemas.microsoft.com/office/powerpoint/2010/main" val="298351194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C51430-90F4-472E-EFF9-31BC4281A34F}"/>
              </a:ext>
            </a:extLst>
          </p:cNvPr>
          <p:cNvSpPr>
            <a:spLocks noGrp="1"/>
          </p:cNvSpPr>
          <p:nvPr>
            <p:ph sz="half" idx="1"/>
          </p:nvPr>
        </p:nvSpPr>
        <p:spPr>
          <a:xfrm>
            <a:off x="838200" y="473336"/>
            <a:ext cx="5181600" cy="5703627"/>
          </a:xfrm>
        </p:spPr>
        <p:txBody>
          <a:bodyPr>
            <a:normAutofit fontScale="92500" lnSpcReduction="10000"/>
          </a:bodyPr>
          <a:lstStyle/>
          <a:p>
            <a:pPr marL="0" indent="0" algn="just" rtl="0">
              <a:spcBef>
                <a:spcPts val="0"/>
              </a:spcBef>
              <a:spcAft>
                <a:spcPts val="800"/>
              </a:spcAft>
              <a:buNone/>
            </a:pPr>
            <a:r>
              <a:rPr lang="en-US" sz="1800" b="1" i="0" u="none" strike="noStrike" dirty="0">
                <a:solidFill>
                  <a:schemeClr val="accent2"/>
                </a:solidFill>
                <a:effectLst/>
                <a:latin typeface="Calibri" panose="020F0502020204030204" pitchFamily="34" charset="0"/>
              </a:rPr>
              <a:t>Data overload issues:</a:t>
            </a:r>
            <a:endParaRPr lang="en-US" b="0" dirty="0">
              <a:solidFill>
                <a:schemeClr val="accent2"/>
              </a:solidFill>
              <a:effectLst/>
            </a:endParaRPr>
          </a:p>
          <a:p>
            <a:pPr algn="just" rtl="0">
              <a:spcBef>
                <a:spcPts val="0"/>
              </a:spcBef>
              <a:spcAft>
                <a:spcPts val="800"/>
              </a:spcAft>
            </a:pPr>
            <a:r>
              <a:rPr lang="en-US" sz="1800" b="0" i="0" u="none" strike="noStrike" dirty="0">
                <a:solidFill>
                  <a:schemeClr val="accent2"/>
                </a:solidFill>
                <a:effectLst/>
                <a:latin typeface="Calibri" panose="020F0502020204030204" pitchFamily="34" charset="0"/>
              </a:rPr>
              <a:t>Businesses need to process huge amounts of data. This requires large amounts of data processing and power, sophisticated software and human analytical skills.</a:t>
            </a:r>
            <a:endParaRPr lang="en-US" b="0" dirty="0">
              <a:solidFill>
                <a:schemeClr val="accent2"/>
              </a:solidFill>
              <a:effectLst/>
            </a:endParaRPr>
          </a:p>
          <a:p>
            <a:pPr marL="0" indent="0" algn="just" rtl="0">
              <a:spcBef>
                <a:spcPts val="0"/>
              </a:spcBef>
              <a:spcAft>
                <a:spcPts val="800"/>
              </a:spcAft>
              <a:buNone/>
            </a:pPr>
            <a:r>
              <a:rPr lang="en-US" sz="1800" b="1" i="0" u="none" strike="noStrike" dirty="0">
                <a:solidFill>
                  <a:schemeClr val="accent2"/>
                </a:solidFill>
                <a:effectLst/>
                <a:latin typeface="Calibri" panose="020F0502020204030204" pitchFamily="34" charset="0"/>
              </a:rPr>
              <a:t>Mobile and wireless usages:</a:t>
            </a:r>
            <a:endParaRPr lang="en-US" b="0" dirty="0">
              <a:solidFill>
                <a:schemeClr val="accent2"/>
              </a:solidFill>
              <a:effectLst/>
            </a:endParaRPr>
          </a:p>
          <a:p>
            <a:pPr algn="just" rtl="0">
              <a:spcBef>
                <a:spcPts val="0"/>
              </a:spcBef>
              <a:spcAft>
                <a:spcPts val="800"/>
              </a:spcAft>
            </a:pPr>
            <a:r>
              <a:rPr lang="en-US" sz="1800" b="0" i="0" u="none" strike="noStrike" dirty="0">
                <a:solidFill>
                  <a:schemeClr val="accent2"/>
                </a:solidFill>
                <a:effectLst/>
                <a:latin typeface="Calibri" panose="020F0502020204030204" pitchFamily="34" charset="0"/>
              </a:rPr>
              <a:t>More employers are offering remote work options that require smartphones, tablets and laptops with wireless hotspots and roaming ability.</a:t>
            </a:r>
            <a:endParaRPr lang="en-US" b="0" dirty="0">
              <a:solidFill>
                <a:schemeClr val="accent2"/>
              </a:solidFill>
              <a:effectLst/>
            </a:endParaRPr>
          </a:p>
          <a:p>
            <a:pPr marL="0" indent="0" algn="just" rtl="0">
              <a:spcBef>
                <a:spcPts val="0"/>
              </a:spcBef>
              <a:spcAft>
                <a:spcPts val="800"/>
              </a:spcAft>
              <a:buNone/>
            </a:pPr>
            <a:r>
              <a:rPr lang="en-US" sz="1800" b="1" i="0" u="none" strike="noStrike" dirty="0">
                <a:solidFill>
                  <a:schemeClr val="accent2"/>
                </a:solidFill>
                <a:effectLst/>
                <a:latin typeface="Calibri" panose="020F0502020204030204" pitchFamily="34" charset="0"/>
              </a:rPr>
              <a:t>Cloud computing services:</a:t>
            </a:r>
            <a:endParaRPr lang="en-US" b="0" dirty="0">
              <a:solidFill>
                <a:schemeClr val="accent2"/>
              </a:solidFill>
              <a:effectLst/>
            </a:endParaRPr>
          </a:p>
          <a:p>
            <a:pPr algn="just" rtl="0">
              <a:spcBef>
                <a:spcPts val="0"/>
              </a:spcBef>
              <a:spcAft>
                <a:spcPts val="800"/>
              </a:spcAft>
            </a:pPr>
            <a:r>
              <a:rPr lang="en-US" sz="1800" b="0" i="0" u="none" strike="noStrike" dirty="0">
                <a:solidFill>
                  <a:schemeClr val="accent2"/>
                </a:solidFill>
                <a:effectLst/>
                <a:latin typeface="Calibri" panose="020F0502020204030204" pitchFamily="34" charset="0"/>
              </a:rPr>
              <a:t>Most businesses no longer operate their own “server farms” to store massive amounts of data. Many businesses now work with cloud services—third-party hosting platforms that maintain that data.</a:t>
            </a:r>
            <a:endParaRPr lang="en-US" b="0" dirty="0">
              <a:solidFill>
                <a:schemeClr val="accent2"/>
              </a:solidFill>
              <a:effectLst/>
            </a:endParaRPr>
          </a:p>
          <a:p>
            <a:pPr marL="0" indent="0">
              <a:buNone/>
            </a:pPr>
            <a:br>
              <a:rPr lang="en-US" dirty="0"/>
            </a:br>
            <a:endParaRPr lang="en-PH" dirty="0"/>
          </a:p>
        </p:txBody>
      </p:sp>
      <p:sp>
        <p:nvSpPr>
          <p:cNvPr id="4" name="Content Placeholder 3">
            <a:extLst>
              <a:ext uri="{FF2B5EF4-FFF2-40B4-BE49-F238E27FC236}">
                <a16:creationId xmlns:a16="http://schemas.microsoft.com/office/drawing/2014/main" id="{8BDA7662-8D91-D506-C3B1-4DA0835F3B21}"/>
              </a:ext>
            </a:extLst>
          </p:cNvPr>
          <p:cNvSpPr>
            <a:spLocks noGrp="1"/>
          </p:cNvSpPr>
          <p:nvPr>
            <p:ph sz="half" idx="2"/>
          </p:nvPr>
        </p:nvSpPr>
        <p:spPr>
          <a:xfrm>
            <a:off x="6172200" y="473336"/>
            <a:ext cx="5181600" cy="5703627"/>
          </a:xfrm>
        </p:spPr>
        <p:txBody>
          <a:bodyPr>
            <a:normAutofit fontScale="92500" lnSpcReduction="10000"/>
          </a:bodyPr>
          <a:lstStyle/>
          <a:p>
            <a:pPr marL="0" indent="0" algn="just" rtl="0">
              <a:spcBef>
                <a:spcPts val="0"/>
              </a:spcBef>
              <a:spcAft>
                <a:spcPts val="800"/>
              </a:spcAft>
              <a:buNone/>
            </a:pPr>
            <a:r>
              <a:rPr lang="en-US" sz="1800" b="1" i="0" u="none" strike="noStrike" dirty="0">
                <a:solidFill>
                  <a:schemeClr val="accent4"/>
                </a:solidFill>
                <a:effectLst/>
                <a:latin typeface="Calibri" panose="020F0502020204030204" pitchFamily="34" charset="0"/>
              </a:rPr>
              <a:t>Video hosting and bandwidth issues:</a:t>
            </a:r>
            <a:endParaRPr lang="en-US" b="0" dirty="0">
              <a:solidFill>
                <a:schemeClr val="accent4"/>
              </a:solidFill>
              <a:effectLst/>
            </a:endParaRPr>
          </a:p>
          <a:p>
            <a:pPr algn="just" rtl="0">
              <a:spcBef>
                <a:spcPts val="0"/>
              </a:spcBef>
              <a:spcAft>
                <a:spcPts val="800"/>
              </a:spcAft>
            </a:pPr>
            <a:r>
              <a:rPr lang="en-US" sz="1800" b="0" i="0" u="none" strike="noStrike" dirty="0">
                <a:solidFill>
                  <a:schemeClr val="accent4"/>
                </a:solidFill>
                <a:effectLst/>
                <a:latin typeface="Calibri" panose="020F0502020204030204" pitchFamily="34" charset="0"/>
              </a:rPr>
              <a:t>Videoconferencing solutions have become more and more popular, so more network bandwidth is needed to support them sufficiently.</a:t>
            </a:r>
            <a:endParaRPr lang="en-US" b="0" dirty="0">
              <a:solidFill>
                <a:schemeClr val="accent4"/>
              </a:solidFill>
              <a:effectLst/>
            </a:endParaRPr>
          </a:p>
          <a:p>
            <a:pPr marL="0" indent="0" algn="just" rtl="0">
              <a:spcBef>
                <a:spcPts val="0"/>
              </a:spcBef>
              <a:spcAft>
                <a:spcPts val="800"/>
              </a:spcAft>
              <a:buNone/>
            </a:pPr>
            <a:r>
              <a:rPr lang="en-US" sz="1800" b="1" i="0" u="none" strike="noStrike" dirty="0">
                <a:solidFill>
                  <a:schemeClr val="accent4"/>
                </a:solidFill>
                <a:effectLst/>
                <a:latin typeface="Calibri" panose="020F0502020204030204" pitchFamily="34" charset="0"/>
              </a:rPr>
              <a:t>AI and machine learning:</a:t>
            </a:r>
            <a:endParaRPr lang="en-US" b="0" dirty="0">
              <a:solidFill>
                <a:schemeClr val="accent4"/>
              </a:solidFill>
              <a:effectLst/>
            </a:endParaRPr>
          </a:p>
          <a:p>
            <a:pPr algn="just" rtl="0">
              <a:spcBef>
                <a:spcPts val="0"/>
              </a:spcBef>
              <a:spcAft>
                <a:spcPts val="800"/>
              </a:spcAft>
            </a:pPr>
            <a:r>
              <a:rPr lang="en-US" sz="1800" b="0" i="0" u="none" strike="noStrike" dirty="0">
                <a:solidFill>
                  <a:schemeClr val="accent4"/>
                </a:solidFill>
                <a:effectLst/>
                <a:latin typeface="Calibri" panose="020F0502020204030204" pitchFamily="34" charset="0"/>
              </a:rPr>
              <a:t>Artificial intelligence (AI) and machine learning allow businesses to automate, scale up and use complicated models to anticipate everything from market changes to weather patterns. With the massive volume of data these days, AI is quickly becoming a mainstay in the business world.</a:t>
            </a:r>
            <a:endParaRPr lang="en-US" b="0" dirty="0">
              <a:solidFill>
                <a:schemeClr val="accent4"/>
              </a:solidFill>
              <a:effectLst/>
            </a:endParaRPr>
          </a:p>
          <a:p>
            <a:pPr marL="0" indent="0" algn="just" rtl="0">
              <a:spcBef>
                <a:spcPts val="0"/>
              </a:spcBef>
              <a:spcAft>
                <a:spcPts val="800"/>
              </a:spcAft>
              <a:buNone/>
            </a:pPr>
            <a:r>
              <a:rPr lang="en-US" sz="1800" b="1" i="0" u="none" strike="noStrike" dirty="0">
                <a:solidFill>
                  <a:schemeClr val="accent4"/>
                </a:solidFill>
                <a:effectLst/>
                <a:latin typeface="Calibri" panose="020F0502020204030204" pitchFamily="34" charset="0"/>
              </a:rPr>
              <a:t>Cybersecurity:</a:t>
            </a:r>
            <a:endParaRPr lang="en-US" b="0" dirty="0">
              <a:solidFill>
                <a:schemeClr val="accent4"/>
              </a:solidFill>
              <a:effectLst/>
            </a:endParaRPr>
          </a:p>
          <a:p>
            <a:pPr algn="just" rtl="0">
              <a:spcBef>
                <a:spcPts val="0"/>
              </a:spcBef>
              <a:spcAft>
                <a:spcPts val="800"/>
              </a:spcAft>
            </a:pPr>
            <a:r>
              <a:rPr lang="en-US" sz="1800" b="0" i="0" u="none" strike="noStrike" dirty="0">
                <a:solidFill>
                  <a:schemeClr val="accent4"/>
                </a:solidFill>
                <a:effectLst/>
                <a:latin typeface="Calibri" panose="020F0502020204030204" pitchFamily="34" charset="0"/>
              </a:rPr>
              <a:t> Cybersecurity is all about securing computer systems all about securing computer systems, networks and data. As businesses depend on their digital systems to function, cyber-attacks that threaten to delete or stall those functions can get pose a massive threat. Theft of private data is also a huge concern, requiring dedicated cybersecurity measures to consistently repel thieves.</a:t>
            </a:r>
            <a:endParaRPr lang="en-US" b="0" dirty="0">
              <a:solidFill>
                <a:schemeClr val="accent4"/>
              </a:solidFill>
              <a:effectLst/>
            </a:endParaRPr>
          </a:p>
          <a:p>
            <a:pPr marL="0" indent="0">
              <a:buNone/>
            </a:pPr>
            <a:br>
              <a:rPr lang="en-US" dirty="0"/>
            </a:br>
            <a:endParaRPr lang="en-PH" dirty="0"/>
          </a:p>
        </p:txBody>
      </p:sp>
    </p:spTree>
    <p:extLst>
      <p:ext uri="{BB962C8B-B14F-4D97-AF65-F5344CB8AC3E}">
        <p14:creationId xmlns:p14="http://schemas.microsoft.com/office/powerpoint/2010/main" val="179790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animEffect transition="in" filter="fade">
                                      <p:cBhvr>
                                        <p:cTn id="39" dur="1000"/>
                                        <p:tgtEl>
                                          <p:spTgt spid="4">
                                            <p:txEl>
                                              <p:pRg st="0" end="0"/>
                                            </p:txEl>
                                          </p:spTgt>
                                        </p:tgtEl>
                                      </p:cBhvr>
                                    </p:animEffect>
                                    <p:anim calcmode="lin" valueType="num">
                                      <p:cBhvr>
                                        <p:cTn id="4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xEl>
                                              <p:pRg st="1" end="1"/>
                                            </p:txEl>
                                          </p:spTgt>
                                        </p:tgtEl>
                                        <p:attrNameLst>
                                          <p:attrName>style.visibility</p:attrName>
                                        </p:attrNameLst>
                                      </p:cBhvr>
                                      <p:to>
                                        <p:strVal val="visible"/>
                                      </p:to>
                                    </p:set>
                                    <p:animEffect transition="in" filter="fade">
                                      <p:cBhvr>
                                        <p:cTn id="44" dur="1000"/>
                                        <p:tgtEl>
                                          <p:spTgt spid="4">
                                            <p:txEl>
                                              <p:pRg st="1" end="1"/>
                                            </p:txEl>
                                          </p:spTgt>
                                        </p:tgtEl>
                                      </p:cBhvr>
                                    </p:animEffect>
                                    <p:anim calcmode="lin" valueType="num">
                                      <p:cBhvr>
                                        <p:cTn id="4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animEffect transition="in" filter="fade">
                                      <p:cBhvr>
                                        <p:cTn id="49" dur="1000"/>
                                        <p:tgtEl>
                                          <p:spTgt spid="4">
                                            <p:txEl>
                                              <p:pRg st="2" end="2"/>
                                            </p:txEl>
                                          </p:spTgt>
                                        </p:tgtEl>
                                      </p:cBhvr>
                                    </p:animEffect>
                                    <p:anim calcmode="lin" valueType="num">
                                      <p:cBhvr>
                                        <p:cTn id="5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xEl>
                                              <p:pRg st="3" end="3"/>
                                            </p:txEl>
                                          </p:spTgt>
                                        </p:tgtEl>
                                        <p:attrNameLst>
                                          <p:attrName>style.visibility</p:attrName>
                                        </p:attrNameLst>
                                      </p:cBhvr>
                                      <p:to>
                                        <p:strVal val="visible"/>
                                      </p:to>
                                    </p:set>
                                    <p:animEffect transition="in" filter="fade">
                                      <p:cBhvr>
                                        <p:cTn id="54" dur="1000"/>
                                        <p:tgtEl>
                                          <p:spTgt spid="4">
                                            <p:txEl>
                                              <p:pRg st="3" end="3"/>
                                            </p:txEl>
                                          </p:spTgt>
                                        </p:tgtEl>
                                      </p:cBhvr>
                                    </p:animEffect>
                                    <p:anim calcmode="lin" valueType="num">
                                      <p:cBhvr>
                                        <p:cTn id="5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
                                            <p:txEl>
                                              <p:pRg st="4" end="4"/>
                                            </p:txEl>
                                          </p:spTgt>
                                        </p:tgtEl>
                                        <p:attrNameLst>
                                          <p:attrName>style.visibility</p:attrName>
                                        </p:attrNameLst>
                                      </p:cBhvr>
                                      <p:to>
                                        <p:strVal val="visible"/>
                                      </p:to>
                                    </p:set>
                                    <p:animEffect transition="in" filter="fade">
                                      <p:cBhvr>
                                        <p:cTn id="59" dur="1000"/>
                                        <p:tgtEl>
                                          <p:spTgt spid="4">
                                            <p:txEl>
                                              <p:pRg st="4" end="4"/>
                                            </p:txEl>
                                          </p:spTgt>
                                        </p:tgtEl>
                                      </p:cBhvr>
                                    </p:animEffect>
                                    <p:anim calcmode="lin" valueType="num">
                                      <p:cBhvr>
                                        <p:cTn id="6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
                                            <p:txEl>
                                              <p:pRg st="5" end="5"/>
                                            </p:txEl>
                                          </p:spTgt>
                                        </p:tgtEl>
                                        <p:attrNameLst>
                                          <p:attrName>style.visibility</p:attrName>
                                        </p:attrNameLst>
                                      </p:cBhvr>
                                      <p:to>
                                        <p:strVal val="visible"/>
                                      </p:to>
                                    </p:set>
                                    <p:animEffect transition="in" filter="fade">
                                      <p:cBhvr>
                                        <p:cTn id="64" dur="1000"/>
                                        <p:tgtEl>
                                          <p:spTgt spid="4">
                                            <p:txEl>
                                              <p:pRg st="5" end="5"/>
                                            </p:txEl>
                                          </p:spTgt>
                                        </p:tgtEl>
                                      </p:cBhvr>
                                    </p:animEffect>
                                    <p:anim calcmode="lin" valueType="num">
                                      <p:cBhvr>
                                        <p:cTn id="6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 2013 - 2022</Template>
  <TotalTime>75</TotalTime>
  <Words>756</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Aharoni</vt:lpstr>
      <vt:lpstr>Arial</vt:lpstr>
      <vt:lpstr>Calibri</vt:lpstr>
      <vt:lpstr>Calibri Light</vt:lpstr>
      <vt:lpstr>Century Gothic</vt:lpstr>
      <vt:lpstr>Office Theme</vt:lpstr>
      <vt:lpstr> What Is Information Technology?  A Beginner’s Guide to the World of IT  </vt:lpstr>
      <vt:lpstr>What is information Technology and what does it encompass?</vt:lpstr>
      <vt:lpstr>PowerPoint Presentation</vt:lpstr>
      <vt:lpstr>What is the Difference between Hardware and Software</vt:lpstr>
      <vt:lpstr>    Why is information technology so important?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What Is Information Technology?  A Beginner’s Guide to the World of IT  </dc:title>
  <dc:creator>LAB-PC</dc:creator>
  <cp:lastModifiedBy>LAB-PC</cp:lastModifiedBy>
  <cp:revision>1</cp:revision>
  <dcterms:created xsi:type="dcterms:W3CDTF">2023-05-24T07:50:44Z</dcterms:created>
  <dcterms:modified xsi:type="dcterms:W3CDTF">2023-05-24T09:06:19Z</dcterms:modified>
</cp:coreProperties>
</file>